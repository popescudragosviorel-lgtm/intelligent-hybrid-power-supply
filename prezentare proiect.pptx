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il luminos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10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F1F2ACA-53BA-A135-B34A-67FE5DD4A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0EA23159-309D-BC8D-27CC-1A8B5BAC0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DC1BA578-058B-E513-A0C9-F476E410C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2DD5-F781-46C7-94FA-DFC79167A902}" type="datetimeFigureOut">
              <a:rPr lang="ro-RO" smtClean="0"/>
              <a:t>17.09.2026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ECC8DF7-EDAC-19E9-7FD8-D52746D5A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A0FD20F-65D6-7948-1947-5FDCC3830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FE83-E140-498B-B571-B8E068A7A2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0618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C2FD421-D1D9-6021-3955-9968E5B7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855981-063F-1DD7-2C32-C936A5205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F47DC83F-ED67-72EC-3156-3BF5AA2F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2DD5-F781-46C7-94FA-DFC79167A902}" type="datetimeFigureOut">
              <a:rPr lang="ro-RO" smtClean="0"/>
              <a:t>17.09.2026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81ABE7-6B47-D207-6D2C-97B4C8F64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D704634-F20F-A34F-956F-0BADDE211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FE83-E140-498B-B571-B8E068A7A2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05858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524996C-2FFB-58BE-31E0-F845D7F65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773FF9E-3FCD-2C92-4EB6-FEEEAF8C6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DA5653D7-A295-3762-F230-B28CA8273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2DD5-F781-46C7-94FA-DFC79167A902}" type="datetimeFigureOut">
              <a:rPr lang="ro-RO" smtClean="0"/>
              <a:t>17.09.2026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B8F0889-D768-DD2A-351A-A92521671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B1F29E3-CF24-C4A4-4156-477A9F19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FE83-E140-498B-B571-B8E068A7A2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27126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05B0B20-E8B5-F943-9712-6450117D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8FDE3B8-B9A5-E148-44EE-B266D1EAE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171513B0-DA84-48EA-E8E4-ED87344CD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843D555F-3945-6D8E-4155-F2DC95C40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2DD5-F781-46C7-94FA-DFC79167A902}" type="datetimeFigureOut">
              <a:rPr lang="ro-RO" smtClean="0"/>
              <a:t>17.09.2026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411841D-921C-E69F-184D-98FC624C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E62167AB-1A45-DA6B-1696-E70017104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FE83-E140-498B-B571-B8E068A7A2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93184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2622C97-D1A5-75F0-D833-52FDD644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1934D226-F8EC-EE9A-1A29-7FADD11C9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D208EB35-4EBC-7AF3-3F55-9E6896160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021105DF-217A-8C8D-7757-EE9AE5DFC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FEBB6345-6FA2-6AA4-735D-15E3BE481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4A333618-CA13-F90A-B7CC-AA45DB17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2DD5-F781-46C7-94FA-DFC79167A902}" type="datetimeFigureOut">
              <a:rPr lang="ro-RO" smtClean="0"/>
              <a:t>17.09.2026</a:t>
            </a:fld>
            <a:endParaRPr lang="ro-RO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2DCF2A8A-D60B-0048-EEFF-1F9D2DC5D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44B1DE96-732F-F251-25C9-A4D1AE336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FE83-E140-498B-B571-B8E068A7A2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61356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1899D72-1A35-D40C-E459-331D0BA19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75214E98-D0A0-EAF7-063F-CDAD997C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2DD5-F781-46C7-94FA-DFC79167A902}" type="datetimeFigureOut">
              <a:rPr lang="ro-RO" smtClean="0"/>
              <a:t>17.09.2026</a:t>
            </a:fld>
            <a:endParaRPr lang="ro-RO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A8AF6516-6F01-0BC2-5A5E-927F6686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E9FA3265-C781-FC91-A3DC-9D36AD57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FE83-E140-498B-B571-B8E068A7A2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93289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BA4ED34A-19E5-CFF3-0A00-68B9EF7F7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2DD5-F781-46C7-94FA-DFC79167A902}" type="datetimeFigureOut">
              <a:rPr lang="ro-RO" smtClean="0"/>
              <a:t>17.09.2026</a:t>
            </a:fld>
            <a:endParaRPr lang="ro-RO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B31EBF73-CF6D-00AA-54CB-DFF54F2FA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E93F878B-149C-7F69-D9E6-F0050C28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FE83-E140-498B-B571-B8E068A7A2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8909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8325688-875D-0C0B-CE41-475B3A0B8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665614D-5D03-A873-1BC7-E1FA80B29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17FC8ACA-C519-B162-82AD-DC5B54C3C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3BC471B3-16AE-27F2-1E6F-8845AD9A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2DD5-F781-46C7-94FA-DFC79167A902}" type="datetimeFigureOut">
              <a:rPr lang="ro-RO" smtClean="0"/>
              <a:t>17.09.2026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E341C08D-FD01-1E5E-5C92-A5E884AF6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EF1489F-6DC5-35D9-7EFC-CA3948F0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FE83-E140-498B-B571-B8E068A7A2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68021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AB24669-A3FC-8268-9D64-E4BFBAA87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79205A11-1DC8-3E92-CE49-CF635D1500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02414D6B-CCF0-F79F-2C95-DBE6BBED8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5887B6C8-4DBD-2325-991D-6DDB768B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2DD5-F781-46C7-94FA-DFC79167A902}" type="datetimeFigureOut">
              <a:rPr lang="ro-RO" smtClean="0"/>
              <a:t>17.09.2026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5493477E-E4B0-C0B9-B365-D424DB42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E7EE35A-9958-D01B-0D53-4CDF7BC98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FE83-E140-498B-B571-B8E068A7A2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94747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33DFCA7-E0EB-D4C9-3185-CFA693FA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8F2A2576-CB57-B5A2-2C5D-AD1941EEB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02E64A72-86AA-B022-E2BF-12F9FBEE2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2DD5-F781-46C7-94FA-DFC79167A902}" type="datetimeFigureOut">
              <a:rPr lang="ro-RO" smtClean="0"/>
              <a:t>17.09.2026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DFF809F-487C-0ED5-2085-0721F918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85E6D31-227B-40D8-CE28-B9D5E980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FE83-E140-498B-B571-B8E068A7A2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020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95489F1E-8338-5143-D6EB-95BD49718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1AAF6D9F-B1B3-CCA9-6BE0-8532747D2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7F6EA73-E93C-54BD-1BCA-A6E0F48EA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2DD5-F781-46C7-94FA-DFC79167A902}" type="datetimeFigureOut">
              <a:rPr lang="ro-RO" smtClean="0"/>
              <a:t>17.09.2026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47C6990-7569-51B4-557E-A893C173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6E9E4FF-AD2B-3FDE-7F2A-5CD5AF62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FE83-E140-498B-B571-B8E068A7A2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4512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0B8D8836-5362-2ED2-E07D-D3D8667C5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3F704F94-FAB9-A5B6-8976-A97FC1DE5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07739955-DEDC-4559-B9AE-65B932E3A1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42DD5-F781-46C7-94FA-DFC79167A902}" type="datetimeFigureOut">
              <a:rPr lang="ro-RO" smtClean="0"/>
              <a:t>17.09.2026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F8F3971-1148-3C10-3AFD-3BCEE3A46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F8A989B-2547-218B-EC70-6A5B9D8C90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9FE83-E140-498B-B571-B8E068A7A2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974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B884264-C4FF-1250-8FA7-051C5E6866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788859"/>
            <a:ext cx="9144000" cy="2758973"/>
          </a:xfrm>
        </p:spPr>
        <p:txBody>
          <a:bodyPr>
            <a:noAutofit/>
          </a:bodyPr>
          <a:lstStyle/>
          <a:p>
            <a:r>
              <a:rPr lang="ro-RO" sz="4000" dirty="0">
                <a:latin typeface="UT Sans" panose="00000500000000000000" pitchFamily="2" charset="0"/>
              </a:rPr>
              <a:t>Sistem hibrid de alimentare cu control inteligent și monitorizarea parametrilor electrici</a:t>
            </a:r>
            <a:br>
              <a:rPr lang="ro-RO" sz="4000" dirty="0">
                <a:latin typeface="UT Sans" panose="00000500000000000000" pitchFamily="2" charset="0"/>
              </a:rPr>
            </a:br>
            <a:endParaRPr lang="ro-RO" sz="4000" dirty="0">
              <a:latin typeface="UT Sans" panose="00000500000000000000" pitchFamily="2" charset="0"/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2388C1B1-1639-D7C1-A559-378F2E27D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9420" y="4547832"/>
            <a:ext cx="9218579" cy="1655762"/>
          </a:xfrm>
        </p:spPr>
        <p:txBody>
          <a:bodyPr>
            <a:normAutofit/>
          </a:bodyPr>
          <a:lstStyle/>
          <a:p>
            <a:pPr algn="l"/>
            <a:r>
              <a:rPr lang="ro-RO" b="1" dirty="0">
                <a:latin typeface="UT Sans" panose="00000500000000000000" pitchFamily="2" charset="0"/>
              </a:rPr>
              <a:t> </a:t>
            </a:r>
            <a:r>
              <a:rPr lang="ro-RO" sz="2000" b="1" dirty="0">
                <a:latin typeface="UT Sans" panose="00000500000000000000" pitchFamily="2" charset="0"/>
              </a:rPr>
              <a:t>Absolvent:</a:t>
            </a:r>
            <a:endParaRPr lang="ro-RO" sz="2000" dirty="0">
              <a:latin typeface="UT Sans" panose="00000500000000000000" pitchFamily="2" charset="0"/>
            </a:endParaRPr>
          </a:p>
          <a:p>
            <a:pPr algn="l"/>
            <a:r>
              <a:rPr lang="ro-RO" sz="2000" b="1" dirty="0">
                <a:latin typeface="UT Sans" panose="00000500000000000000" pitchFamily="2" charset="0"/>
              </a:rPr>
              <a:t>POPESCU </a:t>
            </a:r>
            <a:r>
              <a:rPr lang="ro-RO" sz="2000" b="1" dirty="0" err="1">
                <a:latin typeface="UT Sans" panose="00000500000000000000" pitchFamily="2" charset="0"/>
              </a:rPr>
              <a:t>Drago</a:t>
            </a:r>
            <a:r>
              <a:rPr lang="ro-MD" sz="2000" b="1" dirty="0">
                <a:latin typeface="UT Sans" panose="00000500000000000000" pitchFamily="2" charset="0"/>
              </a:rPr>
              <a:t>ș-Viorel</a:t>
            </a:r>
          </a:p>
          <a:p>
            <a:pPr algn="r"/>
            <a:r>
              <a:rPr lang="ro-RO" sz="1800" b="1" dirty="0">
                <a:latin typeface="UT Sans" panose="00000500000000000000" pitchFamily="2" charset="0"/>
              </a:rPr>
              <a:t>Conducător științific:</a:t>
            </a:r>
            <a:endParaRPr lang="ro-RO" sz="1800" dirty="0">
              <a:latin typeface="UT Sans" panose="00000500000000000000" pitchFamily="2" charset="0"/>
            </a:endParaRPr>
          </a:p>
          <a:p>
            <a:pPr algn="r"/>
            <a:r>
              <a:rPr lang="ro-RO" sz="1800" b="1" dirty="0">
                <a:latin typeface="UT Sans" panose="00000500000000000000" pitchFamily="2" charset="0"/>
              </a:rPr>
              <a:t>Șef lucrări Doctor Inginer LELUȚIU Laura - Mihaela</a:t>
            </a:r>
            <a:endParaRPr lang="ro-RO" sz="1800" dirty="0">
              <a:latin typeface="UT Sans" panose="00000500000000000000" pitchFamily="2" charset="0"/>
            </a:endParaRPr>
          </a:p>
          <a:p>
            <a:pPr algn="r"/>
            <a:endParaRPr lang="ro-RO" dirty="0">
              <a:latin typeface="UT Sans" panose="00000500000000000000" pitchFamily="2" charset="0"/>
            </a:endParaRPr>
          </a:p>
          <a:p>
            <a:endParaRPr lang="ro-RO" dirty="0">
              <a:latin typeface="UT Sans" panose="00000500000000000000" pitchFamily="2" charset="0"/>
            </a:endParaRPr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9284C693-E6B6-B552-8414-E315A3A39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"/>
            <a:ext cx="4514850" cy="159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7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5BC795A-11ED-D5B4-DDF8-60C7B99D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463" y="457200"/>
            <a:ext cx="3932237" cy="661481"/>
          </a:xfrm>
        </p:spPr>
        <p:txBody>
          <a:bodyPr>
            <a:normAutofit/>
          </a:bodyPr>
          <a:lstStyle/>
          <a:p>
            <a:r>
              <a:rPr lang="ro-RO" sz="4000" dirty="0">
                <a:latin typeface="UT Sans" panose="00000500000000000000" pitchFamily="2" charset="0"/>
              </a:rPr>
              <a:t>Problema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0BA1CB0-0528-C1AE-E699-244DC59D6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9240" y="1118681"/>
            <a:ext cx="6279006" cy="52869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o-RO" dirty="0">
                <a:latin typeface="UT Sans" panose="00000500000000000000" pitchFamily="2" charset="0"/>
              </a:rPr>
              <a:t>	Întreruperile de alimentare cu energie electrică pot afecta echipamentele electronice și pot conduce la pierderi de date sau la întreruperea proceselor importante. 	</a:t>
            </a:r>
          </a:p>
          <a:p>
            <a:pPr marL="0" indent="0">
              <a:buNone/>
            </a:pPr>
            <a:r>
              <a:rPr lang="ro-RO" dirty="0">
                <a:latin typeface="UT Sans" panose="00000500000000000000" pitchFamily="2" charset="0"/>
              </a:rPr>
              <a:t>	Soluțiile existente, precum sistemele UPS, oferă de regulă o autonomie limitată și nu includ funcții avansate de monitorizare și control de la distanță. </a:t>
            </a:r>
          </a:p>
          <a:p>
            <a:pPr marL="0" indent="0">
              <a:buNone/>
            </a:pPr>
            <a:r>
              <a:rPr lang="ro-RO" dirty="0">
                <a:latin typeface="UT Sans" panose="00000500000000000000" pitchFamily="2" charset="0"/>
              </a:rPr>
              <a:t>	Sistemul propus își propune să depășească aceste limitări, asigurând atât comutarea automată între sursele de alimentare, cât și monitorizarea în timp real a parametrilor electrici și accesul la informații prin intermediul unei aplicații mobile</a:t>
            </a:r>
          </a:p>
          <a:p>
            <a:endParaRPr lang="ro-RO" dirty="0">
              <a:latin typeface="UT Sans" panose="00000500000000000000" pitchFamily="2" charset="0"/>
            </a:endParaRP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E6EC6C16-96EA-7B7B-D8E8-59ECFF339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55" r="6833"/>
          <a:stretch>
            <a:fillRect/>
          </a:stretch>
        </p:blipFill>
        <p:spPr>
          <a:xfrm>
            <a:off x="708463" y="1422670"/>
            <a:ext cx="4710777" cy="401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65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A0614339-A3DB-CED5-B986-A0F2F88E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ro-RO" sz="4000" kern="1200" dirty="0">
                <a:solidFill>
                  <a:srgbClr val="FFFFFF"/>
                </a:solidFill>
                <a:latin typeface="UT Sans" panose="00000500000000000000" pitchFamily="2" charset="0"/>
              </a:rPr>
              <a:t>Schema Bloc</a:t>
            </a:r>
            <a:endParaRPr lang="en-US" sz="4000" kern="1200" dirty="0">
              <a:solidFill>
                <a:srgbClr val="FFFFFF"/>
              </a:solidFill>
              <a:latin typeface="UT Sans" panose="00000500000000000000" pitchFamily="2" charset="0"/>
            </a:endParaRPr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27379A7A-2084-2264-C443-26AEFAD531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3" r="34057" b="71986"/>
          <a:stretch>
            <a:fillRect/>
          </a:stretch>
        </p:blipFill>
        <p:spPr bwMode="auto">
          <a:xfrm>
            <a:off x="5311987" y="643466"/>
            <a:ext cx="5711358" cy="5568739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58071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0AC3E96-F8D9-08AC-4831-4817FB87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394" y="690665"/>
            <a:ext cx="5872297" cy="486383"/>
          </a:xfrm>
        </p:spPr>
        <p:txBody>
          <a:bodyPr>
            <a:noAutofit/>
          </a:bodyPr>
          <a:lstStyle/>
          <a:p>
            <a:r>
              <a:rPr lang="ro-RO" sz="4000" dirty="0">
                <a:latin typeface="UT Sans" panose="00000500000000000000" pitchFamily="2" charset="0"/>
              </a:rPr>
              <a:t>Comutarea</a:t>
            </a:r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E0D35C86-D8E0-3DAF-34F5-E2D6A0FBB1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4394" y="1265570"/>
            <a:ext cx="9663212" cy="465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21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9F58D2E-271E-43C5-9670-81FA7DC4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881" y="547230"/>
            <a:ext cx="3932237" cy="883563"/>
          </a:xfrm>
        </p:spPr>
        <p:txBody>
          <a:bodyPr>
            <a:normAutofit/>
          </a:bodyPr>
          <a:lstStyle/>
          <a:p>
            <a:r>
              <a:rPr lang="ro-RO" sz="4000" dirty="0">
                <a:latin typeface="UT Sans" panose="00000500000000000000" pitchFamily="2" charset="0"/>
              </a:rPr>
              <a:t>Cele 3 moduri</a:t>
            </a:r>
          </a:p>
        </p:txBody>
      </p:sp>
      <p:pic>
        <p:nvPicPr>
          <p:cNvPr id="6" name="Substituent conținut 5">
            <a:extLst>
              <a:ext uri="{FF2B5EF4-FFF2-40B4-BE49-F238E27FC236}">
                <a16:creationId xmlns:a16="http://schemas.microsoft.com/office/drawing/2014/main" id="{0D8CCC79-870E-3884-539D-619E07512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97" y="2852477"/>
            <a:ext cx="6172200" cy="1754505"/>
          </a:xfrm>
          <a:prstGeom prst="rect">
            <a:avLst/>
          </a:prstGeom>
        </p:spPr>
      </p:pic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D79B732D-01AC-1647-B0B8-377E21A1A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0332" y="1877438"/>
            <a:ext cx="4515322" cy="4137465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o-RO" sz="1800" b="1" dirty="0"/>
              <a:t>Rețea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800" dirty="0"/>
              <a:t>Alimentare din rețeaua electrică.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800" dirty="0"/>
              <a:t>Comutare pe invertor la </a:t>
            </a:r>
            <a:r>
              <a:rPr lang="ro-RO" sz="1800" b="1" dirty="0"/>
              <a:t>U &lt; 200 V</a:t>
            </a:r>
            <a:r>
              <a:rPr lang="ro-RO" sz="18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800" dirty="0"/>
              <a:t>Revenire la </a:t>
            </a:r>
            <a:r>
              <a:rPr lang="ro-RO" sz="1800" b="1" dirty="0"/>
              <a:t>U &gt; 210 V</a:t>
            </a:r>
            <a:r>
              <a:rPr lang="ro-RO" sz="1800" dirty="0"/>
              <a:t>. 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ro-RO" sz="1800" b="1" dirty="0"/>
              <a:t>Invertor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800" dirty="0"/>
              <a:t>Alimentare din bateria prin invertor.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800" dirty="0"/>
              <a:t>Comutare pe rețea la </a:t>
            </a:r>
            <a:r>
              <a:rPr lang="ro-RO" sz="1800" b="1" dirty="0"/>
              <a:t>SOC &lt; 20%</a:t>
            </a:r>
            <a:r>
              <a:rPr lang="ro-RO" sz="18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800" dirty="0"/>
              <a:t>Revenire la </a:t>
            </a:r>
            <a:r>
              <a:rPr lang="ro-RO" sz="1800" b="1" dirty="0"/>
              <a:t>SOC &gt; 80%</a:t>
            </a:r>
            <a:r>
              <a:rPr lang="ro-RO" sz="1800" dirty="0"/>
              <a:t>. 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ro-RO" sz="1800" b="1" dirty="0"/>
              <a:t>Manual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800" dirty="0"/>
              <a:t>Selectarea manuală a sursei. </a:t>
            </a:r>
          </a:p>
          <a:p>
            <a:r>
              <a:rPr lang="ro-RO" sz="1800" dirty="0"/>
              <a:t>Util pentru testare și mentenanță.</a:t>
            </a:r>
          </a:p>
        </p:txBody>
      </p:sp>
    </p:spTree>
    <p:extLst>
      <p:ext uri="{BB962C8B-B14F-4D97-AF65-F5344CB8AC3E}">
        <p14:creationId xmlns:p14="http://schemas.microsoft.com/office/powerpoint/2010/main" val="293774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BB98BB6-4F6F-DCCE-FE52-404C41EEE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886" y="418357"/>
            <a:ext cx="3932237" cy="802532"/>
          </a:xfrm>
        </p:spPr>
        <p:txBody>
          <a:bodyPr>
            <a:normAutofit/>
          </a:bodyPr>
          <a:lstStyle/>
          <a:p>
            <a:r>
              <a:rPr lang="ro-RO" sz="4000" dirty="0" err="1">
                <a:latin typeface="UT Sans" panose="00000500000000000000" pitchFamily="2" charset="0"/>
              </a:rPr>
              <a:t>Firmware</a:t>
            </a:r>
            <a:r>
              <a:rPr lang="ro-RO" sz="4000" dirty="0">
                <a:latin typeface="UT Sans" panose="00000500000000000000" pitchFamily="2" charset="0"/>
              </a:rPr>
              <a:t> 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8AFE9F4D-764B-9F7A-BDC7-F8124AC01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4885" y="1820001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 err="1"/>
              <a:t>Firmware</a:t>
            </a:r>
            <a:r>
              <a:rPr lang="ro-RO" sz="2000" dirty="0"/>
              <a:t> dezvoltat în </a:t>
            </a:r>
            <a:r>
              <a:rPr lang="ro-RO" sz="2000" b="1" dirty="0" err="1"/>
              <a:t>Arduino</a:t>
            </a:r>
            <a:r>
              <a:rPr lang="ro-RO" sz="2000" b="1" dirty="0"/>
              <a:t> IDE</a:t>
            </a:r>
            <a:r>
              <a:rPr lang="ro-RO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b="1" dirty="0" err="1"/>
              <a:t>BlynkTimer</a:t>
            </a:r>
            <a:r>
              <a:rPr lang="ro-RO" sz="2000" dirty="0"/>
              <a:t> execută ciclul de măsurare la fiecare </a:t>
            </a:r>
            <a:r>
              <a:rPr lang="ro-RO" sz="2000" b="1" dirty="0"/>
              <a:t>2 s</a:t>
            </a:r>
            <a:r>
              <a:rPr lang="ro-RO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Tensiunea este calculată prin metoda </a:t>
            </a:r>
            <a:r>
              <a:rPr lang="ro-RO" sz="2000" b="1" dirty="0"/>
              <a:t>RMS</a:t>
            </a:r>
            <a:r>
              <a:rPr lang="ro-RO" sz="2000" dirty="0"/>
              <a:t> (două treceri).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Curentul este filtrat cu </a:t>
            </a:r>
            <a:r>
              <a:rPr lang="ro-RO" sz="2000" b="1" dirty="0"/>
              <a:t>EMA</a:t>
            </a:r>
            <a:r>
              <a:rPr lang="ro-RO" sz="2000" dirty="0"/>
              <a:t> (medie mobilă exponențială).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b="1" dirty="0" err="1"/>
              <a:t>SoC</a:t>
            </a:r>
            <a:r>
              <a:rPr lang="ro-RO" sz="2000" dirty="0"/>
              <a:t> este estimat prin metoda </a:t>
            </a:r>
            <a:r>
              <a:rPr lang="ro-RO" sz="2000" b="1" dirty="0"/>
              <a:t>coulomb </a:t>
            </a:r>
            <a:r>
              <a:rPr lang="ro-RO" sz="2000" b="1" dirty="0" err="1"/>
              <a:t>counting</a:t>
            </a:r>
            <a:r>
              <a:rPr lang="ro-RO" sz="2000" dirty="0"/>
              <a:t>.</a:t>
            </a:r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7A738504-7779-F033-3B1B-EC9144BE0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0175" y="987424"/>
            <a:ext cx="4481493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5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5C118B0-3DF3-7550-73D1-8E378CEBA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995363"/>
            <a:ext cx="3932237" cy="588523"/>
          </a:xfrm>
        </p:spPr>
        <p:txBody>
          <a:bodyPr>
            <a:noAutofit/>
          </a:bodyPr>
          <a:lstStyle/>
          <a:p>
            <a:r>
              <a:rPr lang="ro-RO" sz="4000" dirty="0">
                <a:latin typeface="UT Sans" panose="00000500000000000000" pitchFamily="2" charset="0"/>
              </a:rPr>
              <a:t>Interfața </a:t>
            </a:r>
            <a:r>
              <a:rPr lang="ro-RO" sz="4000" dirty="0" err="1">
                <a:latin typeface="UT Sans" panose="00000500000000000000" pitchFamily="2" charset="0"/>
              </a:rPr>
              <a:t>Blynk</a:t>
            </a:r>
            <a:r>
              <a:rPr lang="ro-RO" sz="4000" dirty="0">
                <a:latin typeface="UT Sans" panose="00000500000000000000" pitchFamily="2" charset="0"/>
              </a:rPr>
              <a:t> </a:t>
            </a:r>
          </a:p>
        </p:txBody>
      </p:sp>
      <p:pic>
        <p:nvPicPr>
          <p:cNvPr id="6" name="Substituent conținut 5">
            <a:extLst>
              <a:ext uri="{FF2B5EF4-FFF2-40B4-BE49-F238E27FC236}">
                <a16:creationId xmlns:a16="http://schemas.microsoft.com/office/drawing/2014/main" id="{2072EFA2-D89F-0A65-405A-B9A018219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496" y="1289624"/>
            <a:ext cx="3076279" cy="4873625"/>
          </a:xfrm>
          <a:prstGeom prst="rect">
            <a:avLst/>
          </a:prstGeom>
        </p:spPr>
      </p:pic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E5C02ADA-D3B0-8AA0-2623-D93023AD9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12554" y="2051049"/>
            <a:ext cx="3932237" cy="3811588"/>
          </a:xfrm>
        </p:spPr>
        <p:txBody>
          <a:bodyPr>
            <a:normAutofit lnSpcReduction="10000"/>
          </a:bodyPr>
          <a:lstStyle/>
          <a:p>
            <a:r>
              <a:rPr lang="ro-RO" sz="2400" dirty="0">
                <a:latin typeface="UT Sans" panose="00000500000000000000" pitchFamily="2" charset="0"/>
              </a:rPr>
              <a:t>	Utilizatorul poate monitoriza în timp real tensiunile, curentul, nivelul de încărcare, autonomia estimată și numărul de comutări. </a:t>
            </a:r>
          </a:p>
          <a:p>
            <a:r>
              <a:rPr lang="ro-RO" sz="2400" dirty="0">
                <a:latin typeface="UT Sans" panose="00000500000000000000" pitchFamily="2" charset="0"/>
              </a:rPr>
              <a:t>	Aplicația transmite și notificări </a:t>
            </a:r>
            <a:r>
              <a:rPr lang="ro-RO" sz="2400" dirty="0" err="1">
                <a:latin typeface="UT Sans" panose="00000500000000000000" pitchFamily="2" charset="0"/>
              </a:rPr>
              <a:t>push</a:t>
            </a:r>
            <a:r>
              <a:rPr lang="ro-RO" sz="2400" dirty="0">
                <a:latin typeface="UT Sans" panose="00000500000000000000" pitchFamily="2" charset="0"/>
              </a:rPr>
              <a:t> pentru evenimente critice precum căderea rețelei sau bateria descărcată</a:t>
            </a:r>
          </a:p>
        </p:txBody>
      </p:sp>
    </p:spTree>
    <p:extLst>
      <p:ext uri="{BB962C8B-B14F-4D97-AF65-F5344CB8AC3E}">
        <p14:creationId xmlns:p14="http://schemas.microsoft.com/office/powerpoint/2010/main" val="348184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D971DA8-FD9D-77C5-2D14-E5E76DC94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710120"/>
            <a:ext cx="3932237" cy="792804"/>
          </a:xfrm>
        </p:spPr>
        <p:txBody>
          <a:bodyPr>
            <a:normAutofit/>
          </a:bodyPr>
          <a:lstStyle/>
          <a:p>
            <a:r>
              <a:rPr lang="ro-RO" sz="4000" dirty="0">
                <a:latin typeface="UT Sans" panose="00000500000000000000" pitchFamily="2" charset="0"/>
              </a:rPr>
              <a:t>Rezultate 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BF1D163-9D8C-99CD-ABB2-BF094F2C7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3932237" cy="3811588"/>
          </a:xfrm>
        </p:spPr>
        <p:txBody>
          <a:bodyPr>
            <a:normAutofit/>
          </a:bodyPr>
          <a:lstStyle/>
          <a:p>
            <a:r>
              <a:rPr lang="ro-RO" sz="2400" dirty="0">
                <a:latin typeface="UT Sans" panose="00000500000000000000" pitchFamily="2" charset="0"/>
              </a:rPr>
              <a:t>	Validarea experimentală a confirmat funcționarea corectă a sistemului. Erorile de măsurare au fost sub 0.5% pentru tensiuni și sub 6% pentru curenți, considerate acceptabile pentru această aplicație. </a:t>
            </a:r>
          </a:p>
        </p:txBody>
      </p:sp>
      <p:graphicFrame>
        <p:nvGraphicFramePr>
          <p:cNvPr id="16" name="Substituent conținut 15">
            <a:extLst>
              <a:ext uri="{FF2B5EF4-FFF2-40B4-BE49-F238E27FC236}">
                <a16:creationId xmlns:a16="http://schemas.microsoft.com/office/drawing/2014/main" id="{F25EC4B9-EDF7-96F1-E845-D57D4FCCE3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6287140"/>
              </p:ext>
            </p:extLst>
          </p:nvPr>
        </p:nvGraphicFramePr>
        <p:xfrm>
          <a:off x="5403315" y="1034056"/>
          <a:ext cx="5948897" cy="19051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9883">
                  <a:extLst>
                    <a:ext uri="{9D8B030D-6E8A-4147-A177-3AD203B41FA5}">
                      <a16:colId xmlns:a16="http://schemas.microsoft.com/office/drawing/2014/main" val="1488367964"/>
                    </a:ext>
                  </a:extLst>
                </a:gridCol>
                <a:gridCol w="1722358">
                  <a:extLst>
                    <a:ext uri="{9D8B030D-6E8A-4147-A177-3AD203B41FA5}">
                      <a16:colId xmlns:a16="http://schemas.microsoft.com/office/drawing/2014/main" val="1754237187"/>
                    </a:ext>
                  </a:extLst>
                </a:gridCol>
                <a:gridCol w="1322801">
                  <a:extLst>
                    <a:ext uri="{9D8B030D-6E8A-4147-A177-3AD203B41FA5}">
                      <a16:colId xmlns:a16="http://schemas.microsoft.com/office/drawing/2014/main" val="3161638962"/>
                    </a:ext>
                  </a:extLst>
                </a:gridCol>
                <a:gridCol w="1164089">
                  <a:extLst>
                    <a:ext uri="{9D8B030D-6E8A-4147-A177-3AD203B41FA5}">
                      <a16:colId xmlns:a16="http://schemas.microsoft.com/office/drawing/2014/main" val="847957450"/>
                    </a:ext>
                  </a:extLst>
                </a:gridCol>
                <a:gridCol w="1159766">
                  <a:extLst>
                    <a:ext uri="{9D8B030D-6E8A-4147-A177-3AD203B41FA5}">
                      <a16:colId xmlns:a16="http://schemas.microsoft.com/office/drawing/2014/main" val="310723253"/>
                    </a:ext>
                  </a:extLst>
                </a:gridCol>
              </a:tblGrid>
              <a:tr h="4898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Nr. crt.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Parametru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Senzor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Multimetru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Eroare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9628958"/>
                  </a:ext>
                </a:extLst>
              </a:tr>
              <a:tr h="4717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1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Tensiune re</a:t>
                      </a:r>
                      <a:r>
                        <a:rPr lang="ro-MD" sz="1200">
                          <a:effectLst/>
                        </a:rPr>
                        <a:t>țea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240 V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239 V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0.42%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5592234"/>
                  </a:ext>
                </a:extLst>
              </a:tr>
              <a:tr h="4717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2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Tensiune invertor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 dirty="0">
                          <a:effectLst/>
                        </a:rPr>
                        <a:t>227 V</a:t>
                      </a:r>
                      <a:endParaRPr lang="ro-RO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 dirty="0">
                          <a:effectLst/>
                        </a:rPr>
                        <a:t>228 V</a:t>
                      </a:r>
                      <a:endParaRPr lang="ro-RO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0.43%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1277596"/>
                  </a:ext>
                </a:extLst>
              </a:tr>
              <a:tr h="4717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3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Tensiune baterie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 dirty="0">
                          <a:effectLst/>
                        </a:rPr>
                        <a:t>11,95 V</a:t>
                      </a:r>
                      <a:endParaRPr lang="ro-RO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11,93 V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 dirty="0">
                          <a:effectLst/>
                        </a:rPr>
                        <a:t>0.17%</a:t>
                      </a:r>
                      <a:endParaRPr lang="ro-RO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8465469"/>
                  </a:ext>
                </a:extLst>
              </a:tr>
            </a:tbl>
          </a:graphicData>
        </a:graphic>
      </p:graphicFrame>
      <p:graphicFrame>
        <p:nvGraphicFramePr>
          <p:cNvPr id="17" name="Tabel 16">
            <a:extLst>
              <a:ext uri="{FF2B5EF4-FFF2-40B4-BE49-F238E27FC236}">
                <a16:creationId xmlns:a16="http://schemas.microsoft.com/office/drawing/2014/main" id="{4D0E179E-8665-011B-16BE-FEEFA84A5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57549"/>
              </p:ext>
            </p:extLst>
          </p:nvPr>
        </p:nvGraphicFramePr>
        <p:xfrm>
          <a:off x="5403315" y="3116203"/>
          <a:ext cx="5948898" cy="13487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7562">
                  <a:extLst>
                    <a:ext uri="{9D8B030D-6E8A-4147-A177-3AD203B41FA5}">
                      <a16:colId xmlns:a16="http://schemas.microsoft.com/office/drawing/2014/main" val="3947614344"/>
                    </a:ext>
                  </a:extLst>
                </a:gridCol>
                <a:gridCol w="1357721">
                  <a:extLst>
                    <a:ext uri="{9D8B030D-6E8A-4147-A177-3AD203B41FA5}">
                      <a16:colId xmlns:a16="http://schemas.microsoft.com/office/drawing/2014/main" val="1669622605"/>
                    </a:ext>
                  </a:extLst>
                </a:gridCol>
                <a:gridCol w="1185521">
                  <a:extLst>
                    <a:ext uri="{9D8B030D-6E8A-4147-A177-3AD203B41FA5}">
                      <a16:colId xmlns:a16="http://schemas.microsoft.com/office/drawing/2014/main" val="2860829589"/>
                    </a:ext>
                  </a:extLst>
                </a:gridCol>
                <a:gridCol w="1432896">
                  <a:extLst>
                    <a:ext uri="{9D8B030D-6E8A-4147-A177-3AD203B41FA5}">
                      <a16:colId xmlns:a16="http://schemas.microsoft.com/office/drawing/2014/main" val="2221693518"/>
                    </a:ext>
                  </a:extLst>
                </a:gridCol>
                <a:gridCol w="1335198">
                  <a:extLst>
                    <a:ext uri="{9D8B030D-6E8A-4147-A177-3AD203B41FA5}">
                      <a16:colId xmlns:a16="http://schemas.microsoft.com/office/drawing/2014/main" val="595054928"/>
                    </a:ext>
                  </a:extLst>
                </a:gridCol>
              </a:tblGrid>
              <a:tr h="631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Nr. crt.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Sarcina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Senzor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 dirty="0">
                          <a:effectLst/>
                        </a:rPr>
                        <a:t>Multimetru</a:t>
                      </a:r>
                      <a:endParaRPr lang="ro-RO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Eroare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7951860"/>
                  </a:ext>
                </a:extLst>
              </a:tr>
              <a:tr h="239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1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În gol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845 mA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830 mA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1,81%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7027522"/>
                  </a:ext>
                </a:extLst>
              </a:tr>
              <a:tr h="239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2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Un  bec 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1470 mA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1420 mA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3,52%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8941167"/>
                  </a:ext>
                </a:extLst>
              </a:tr>
              <a:tr h="239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3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Două becuri l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2095 mA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1985 mA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 dirty="0">
                          <a:effectLst/>
                        </a:rPr>
                        <a:t>5,53%</a:t>
                      </a:r>
                      <a:endParaRPr lang="ro-RO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1413890"/>
                  </a:ext>
                </a:extLst>
              </a:tr>
            </a:tbl>
          </a:graphicData>
        </a:graphic>
      </p:graphicFrame>
      <p:graphicFrame>
        <p:nvGraphicFramePr>
          <p:cNvPr id="18" name="Tabel 17">
            <a:extLst>
              <a:ext uri="{FF2B5EF4-FFF2-40B4-BE49-F238E27FC236}">
                <a16:creationId xmlns:a16="http://schemas.microsoft.com/office/drawing/2014/main" id="{E762C79E-EE38-EFD4-DEE1-A7A872878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417927"/>
              </p:ext>
            </p:extLst>
          </p:nvPr>
        </p:nvGraphicFramePr>
        <p:xfrm>
          <a:off x="5403315" y="4757103"/>
          <a:ext cx="5948897" cy="11118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18555">
                  <a:extLst>
                    <a:ext uri="{9D8B030D-6E8A-4147-A177-3AD203B41FA5}">
                      <a16:colId xmlns:a16="http://schemas.microsoft.com/office/drawing/2014/main" val="2654919549"/>
                    </a:ext>
                  </a:extLst>
                </a:gridCol>
                <a:gridCol w="1303473">
                  <a:extLst>
                    <a:ext uri="{9D8B030D-6E8A-4147-A177-3AD203B41FA5}">
                      <a16:colId xmlns:a16="http://schemas.microsoft.com/office/drawing/2014/main" val="2613229200"/>
                    </a:ext>
                  </a:extLst>
                </a:gridCol>
                <a:gridCol w="1262153">
                  <a:extLst>
                    <a:ext uri="{9D8B030D-6E8A-4147-A177-3AD203B41FA5}">
                      <a16:colId xmlns:a16="http://schemas.microsoft.com/office/drawing/2014/main" val="3639051547"/>
                    </a:ext>
                  </a:extLst>
                </a:gridCol>
                <a:gridCol w="1411157">
                  <a:extLst>
                    <a:ext uri="{9D8B030D-6E8A-4147-A177-3AD203B41FA5}">
                      <a16:colId xmlns:a16="http://schemas.microsoft.com/office/drawing/2014/main" val="3443725437"/>
                    </a:ext>
                  </a:extLst>
                </a:gridCol>
                <a:gridCol w="1353559">
                  <a:extLst>
                    <a:ext uri="{9D8B030D-6E8A-4147-A177-3AD203B41FA5}">
                      <a16:colId xmlns:a16="http://schemas.microsoft.com/office/drawing/2014/main" val="2179721152"/>
                    </a:ext>
                  </a:extLst>
                </a:gridCol>
              </a:tblGrid>
              <a:tr h="4362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Nr. crt.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Sarcina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Senzor 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Multimetru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Eroare[%]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069311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1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Un  bec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55 mA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53 mA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3,77%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8763165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2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Două becuri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105 mA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>
                          <a:effectLst/>
                        </a:rPr>
                        <a:t>107 mA</a:t>
                      </a:r>
                      <a:endParaRPr lang="ro-RO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200" dirty="0">
                          <a:effectLst/>
                        </a:rPr>
                        <a:t>1,87%</a:t>
                      </a:r>
                      <a:endParaRPr lang="ro-RO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0941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635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Substituent conținut 4">
            <a:extLst>
              <a:ext uri="{FF2B5EF4-FFF2-40B4-BE49-F238E27FC236}">
                <a16:creationId xmlns:a16="http://schemas.microsoft.com/office/drawing/2014/main" id="{0C77B4AB-4665-45FA-0A55-0E492FF06C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733822"/>
              </p:ext>
            </p:extLst>
          </p:nvPr>
        </p:nvGraphicFramePr>
        <p:xfrm>
          <a:off x="5027545" y="1925194"/>
          <a:ext cx="6172200" cy="32556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69605302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25307548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200217823"/>
                    </a:ext>
                  </a:extLst>
                </a:gridCol>
              </a:tblGrid>
              <a:tr h="542611"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Test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Condiție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Rezultat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extLst>
                  <a:ext uri="{0D108BD9-81ED-4DB2-BD59-A6C34878D82A}">
                    <a16:rowId xmlns:a16="http://schemas.microsoft.com/office/drawing/2014/main" val="3102041533"/>
                  </a:ext>
                </a:extLst>
              </a:tr>
              <a:tr h="542611"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Cădere rețea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U &lt; 200 V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Comutare pe invertor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extLst>
                  <a:ext uri="{0D108BD9-81ED-4DB2-BD59-A6C34878D82A}">
                    <a16:rowId xmlns:a16="http://schemas.microsoft.com/office/drawing/2014/main" val="3842613850"/>
                  </a:ext>
                </a:extLst>
              </a:tr>
              <a:tr h="542611"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Revenire rețea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 dirty="0">
                          <a:effectLst/>
                        </a:rPr>
                        <a:t>U &gt; 210 V</a:t>
                      </a:r>
                      <a:endParaRPr lang="ro-RO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Comutare pe rețea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extLst>
                  <a:ext uri="{0D108BD9-81ED-4DB2-BD59-A6C34878D82A}">
                    <a16:rowId xmlns:a16="http://schemas.microsoft.com/office/drawing/2014/main" val="3766788124"/>
                  </a:ext>
                </a:extLst>
              </a:tr>
              <a:tr h="542611"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Baterie &lt;20 %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Protecție activată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Comutare pe rețea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extLst>
                  <a:ext uri="{0D108BD9-81ED-4DB2-BD59-A6C34878D82A}">
                    <a16:rowId xmlns:a16="http://schemas.microsoft.com/office/drawing/2014/main" val="2939928347"/>
                  </a:ext>
                </a:extLst>
              </a:tr>
              <a:tr h="542611"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Mod manual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Comandă utilizator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Funcționare corectă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extLst>
                  <a:ext uri="{0D108BD9-81ED-4DB2-BD59-A6C34878D82A}">
                    <a16:rowId xmlns:a16="http://schemas.microsoft.com/office/drawing/2014/main" val="409997408"/>
                  </a:ext>
                </a:extLst>
              </a:tr>
              <a:tr h="542611"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Mod invertor prioritar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>
                          <a:effectLst/>
                        </a:rPr>
                        <a:t>SoC &gt;20 %</a:t>
                      </a:r>
                      <a:endParaRPr lang="ro-RO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tc>
                  <a:txBody>
                    <a:bodyPr/>
                    <a:lstStyle/>
                    <a:p>
                      <a:pPr indent="450215" algn="ctr">
                        <a:buNone/>
                      </a:pPr>
                      <a:r>
                        <a:rPr lang="ro-RO" sz="1600" dirty="0">
                          <a:effectLst/>
                        </a:rPr>
                        <a:t>Funcționare corectă</a:t>
                      </a:r>
                      <a:endParaRPr lang="ro-RO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0253" marR="40253" marT="0" marB="0"/>
                </a:tc>
                <a:extLst>
                  <a:ext uri="{0D108BD9-81ED-4DB2-BD59-A6C34878D82A}">
                    <a16:rowId xmlns:a16="http://schemas.microsoft.com/office/drawing/2014/main" val="3376300159"/>
                  </a:ext>
                </a:extLst>
              </a:tr>
            </a:tbl>
          </a:graphicData>
        </a:graphic>
      </p:graphicFrame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F9A62328-B8E9-1340-55DE-20CC77EAA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7429" y="2796701"/>
            <a:ext cx="3932237" cy="1512651"/>
          </a:xfrm>
        </p:spPr>
        <p:txBody>
          <a:bodyPr>
            <a:normAutofit/>
          </a:bodyPr>
          <a:lstStyle/>
          <a:p>
            <a:r>
              <a:rPr lang="ro-RO" sz="2400" dirty="0">
                <a:latin typeface="UT Sans" panose="00000500000000000000" pitchFamily="2" charset="0"/>
              </a:rPr>
              <a:t>	Toate scenariile de comutare au fost testate cu succes în cele trei moduri de operare.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3252165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5B45985-5B25-55F4-FE91-ADDB3D37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629933"/>
            <a:ext cx="3615480" cy="714983"/>
          </a:xfrm>
        </p:spPr>
        <p:txBody>
          <a:bodyPr>
            <a:normAutofit/>
          </a:bodyPr>
          <a:lstStyle/>
          <a:p>
            <a:r>
              <a:rPr lang="ro-RO" sz="4000" dirty="0">
                <a:latin typeface="UT Sans" panose="00000500000000000000" pitchFamily="2" charset="0"/>
              </a:rPr>
              <a:t>Concluzii</a:t>
            </a:r>
          </a:p>
        </p:txBody>
      </p:sp>
      <p:pic>
        <p:nvPicPr>
          <p:cNvPr id="6" name="Substituent conținut 5">
            <a:extLst>
              <a:ext uri="{FF2B5EF4-FFF2-40B4-BE49-F238E27FC236}">
                <a16:creationId xmlns:a16="http://schemas.microsoft.com/office/drawing/2014/main" id="{17B1AB2C-9EF7-95FC-6028-86D545234F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6" b="1"/>
          <a:stretch>
            <a:fillRect/>
          </a:stretch>
        </p:blipFill>
        <p:spPr>
          <a:xfrm rot="16200000">
            <a:off x="4736891" y="1296753"/>
            <a:ext cx="2869049" cy="7054128"/>
          </a:xfrm>
          <a:prstGeom prst="rect">
            <a:avLst/>
          </a:prstGeom>
        </p:spPr>
      </p:pic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D4AD366-B6C8-F025-DE8E-9B7EC9A64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3568" y="1468261"/>
            <a:ext cx="10184860" cy="1960739"/>
          </a:xfrm>
        </p:spPr>
        <p:txBody>
          <a:bodyPr>
            <a:normAutofit/>
          </a:bodyPr>
          <a:lstStyle/>
          <a:p>
            <a:r>
              <a:rPr lang="ro-RO" sz="2400" dirty="0">
                <a:latin typeface="UT Sans" panose="00000500000000000000" pitchFamily="2" charset="0"/>
              </a:rPr>
              <a:t>	Sistemul realizat integrează comutare automată, monitorizare în timp real și control de la distanță într-o soluție de cost redus. </a:t>
            </a:r>
          </a:p>
          <a:p>
            <a:r>
              <a:rPr lang="ro-RO" sz="2400" dirty="0">
                <a:latin typeface="UT Sans" panose="00000500000000000000" pitchFamily="2" charset="0"/>
              </a:rPr>
              <a:t>	Direcțiile viitoare includ integrarea unui panou fotovoltaic și implementarea unui mecanism de funcționare sigură la pierderea alimentării microcontrolerului.</a:t>
            </a:r>
          </a:p>
        </p:txBody>
      </p:sp>
    </p:spTree>
    <p:extLst>
      <p:ext uri="{BB962C8B-B14F-4D97-AF65-F5344CB8AC3E}">
        <p14:creationId xmlns:p14="http://schemas.microsoft.com/office/powerpoint/2010/main" val="3997667561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502</Words>
  <Application>Microsoft Office PowerPoint</Application>
  <PresentationFormat>Ecran lat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UT Sans</vt:lpstr>
      <vt:lpstr>Temă Office</vt:lpstr>
      <vt:lpstr>Sistem hibrid de alimentare cu control inteligent și monitorizarea parametrilor electrici </vt:lpstr>
      <vt:lpstr>Problema</vt:lpstr>
      <vt:lpstr>Schema Bloc</vt:lpstr>
      <vt:lpstr>Comutarea</vt:lpstr>
      <vt:lpstr>Cele 3 moduri</vt:lpstr>
      <vt:lpstr>Firmware </vt:lpstr>
      <vt:lpstr>Interfața Blynk </vt:lpstr>
      <vt:lpstr>Rezultate </vt:lpstr>
      <vt:lpstr>Prezentare PowerPoint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Dragoş Viorel Popescu</dc:creator>
  <cp:lastModifiedBy>Dragoş Viorel Popescu</cp:lastModifiedBy>
  <cp:revision>4</cp:revision>
  <dcterms:created xsi:type="dcterms:W3CDTF">2026-07-02T20:49:55Z</dcterms:created>
  <dcterms:modified xsi:type="dcterms:W3CDTF">2026-09-17T10:51:57Z</dcterms:modified>
</cp:coreProperties>
</file>